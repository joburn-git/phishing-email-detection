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70" r:id="rId8"/>
    <p:sldId id="261" r:id="rId9"/>
    <p:sldId id="262" r:id="rId10"/>
    <p:sldId id="263" r:id="rId11"/>
    <p:sldId id="264" r:id="rId12"/>
    <p:sldId id="265" r:id="rId13"/>
    <p:sldId id="272" r:id="rId14"/>
    <p:sldId id="271" r:id="rId15"/>
    <p:sldId id="266" r:id="rId16"/>
    <p:sldId id="267" r:id="rId17"/>
    <p:sldId id="268" r:id="rId18"/>
    <p:sldId id="273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78743D-9449-45CB-A333-A21B94D841BD}" v="2918" dt="2026-07-02T16:48:43.5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E153BB-336F-4914-875C-C6DDA289E5E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4D821F-0404-439C-A13A-93876A199CD6}">
      <dgm:prSet/>
      <dgm:spPr/>
      <dgm:t>
        <a:bodyPr/>
        <a:lstStyle/>
        <a:p>
          <a:r>
            <a:rPr lang="pt-PT"/>
            <a:t>Phishing emails are a common cybersecurity threat</a:t>
          </a:r>
          <a:endParaRPr lang="en-US"/>
        </a:p>
      </dgm:t>
    </dgm:pt>
    <dgm:pt modelId="{0FF3A6FE-DF4E-4C2A-AEEC-1F32F550F54B}" type="parTrans" cxnId="{7B2BF4DC-341E-4A37-A039-CF9B041F7D82}">
      <dgm:prSet/>
      <dgm:spPr/>
      <dgm:t>
        <a:bodyPr/>
        <a:lstStyle/>
        <a:p>
          <a:endParaRPr lang="en-US"/>
        </a:p>
      </dgm:t>
    </dgm:pt>
    <dgm:pt modelId="{C511F02A-5895-4856-AB2C-CEC011D3D558}" type="sibTrans" cxnId="{7B2BF4DC-341E-4A37-A039-CF9B041F7D82}">
      <dgm:prSet/>
      <dgm:spPr/>
      <dgm:t>
        <a:bodyPr/>
        <a:lstStyle/>
        <a:p>
          <a:endParaRPr lang="en-US"/>
        </a:p>
      </dgm:t>
    </dgm:pt>
    <dgm:pt modelId="{D7CD7C88-D9E0-4A07-8D47-F7BAE4104BEB}">
      <dgm:prSet/>
      <dgm:spPr/>
      <dgm:t>
        <a:bodyPr/>
        <a:lstStyle/>
        <a:p>
          <a:r>
            <a:rPr lang="pt-PT"/>
            <a:t>They try to trick users into clicking links or revealing sensitive information</a:t>
          </a:r>
          <a:endParaRPr lang="en-US"/>
        </a:p>
      </dgm:t>
    </dgm:pt>
    <dgm:pt modelId="{D099C770-D9C6-4F02-BC6E-AEF7A0A52B20}" type="parTrans" cxnId="{29A270EA-A511-4BCE-B87D-8C65B5F911CB}">
      <dgm:prSet/>
      <dgm:spPr/>
      <dgm:t>
        <a:bodyPr/>
        <a:lstStyle/>
        <a:p>
          <a:endParaRPr lang="en-US"/>
        </a:p>
      </dgm:t>
    </dgm:pt>
    <dgm:pt modelId="{3125EA3E-B6C0-44B8-A671-5C3AB9838389}" type="sibTrans" cxnId="{29A270EA-A511-4BCE-B87D-8C65B5F911CB}">
      <dgm:prSet/>
      <dgm:spPr/>
      <dgm:t>
        <a:bodyPr/>
        <a:lstStyle/>
        <a:p>
          <a:endParaRPr lang="en-US"/>
        </a:p>
      </dgm:t>
    </dgm:pt>
    <dgm:pt modelId="{D6B5011C-AA74-4309-8ECF-3B0C3A5CE4B6}">
      <dgm:prSet/>
      <dgm:spPr/>
      <dgm:t>
        <a:bodyPr/>
        <a:lstStyle/>
        <a:p>
          <a:r>
            <a:rPr lang="pt-PT"/>
            <a:t>Automatic detection can help identify dangerous emails earlier</a:t>
          </a:r>
          <a:endParaRPr lang="en-US"/>
        </a:p>
      </dgm:t>
    </dgm:pt>
    <dgm:pt modelId="{6FD1ABFB-EBE6-4EA6-BAC7-005E1F023C1A}" type="parTrans" cxnId="{9F9E55AC-83C6-4A0E-879C-754082718462}">
      <dgm:prSet/>
      <dgm:spPr/>
      <dgm:t>
        <a:bodyPr/>
        <a:lstStyle/>
        <a:p>
          <a:endParaRPr lang="en-US"/>
        </a:p>
      </dgm:t>
    </dgm:pt>
    <dgm:pt modelId="{16BB0105-42F7-4488-ADA2-CCC67F1B8E77}" type="sibTrans" cxnId="{9F9E55AC-83C6-4A0E-879C-754082718462}">
      <dgm:prSet/>
      <dgm:spPr/>
      <dgm:t>
        <a:bodyPr/>
        <a:lstStyle/>
        <a:p>
          <a:endParaRPr lang="en-US"/>
        </a:p>
      </dgm:t>
    </dgm:pt>
    <dgm:pt modelId="{C860F9B6-B23E-4F6C-A36E-1572DCC1918E}" type="pres">
      <dgm:prSet presAssocID="{1AE153BB-336F-4914-875C-C6DDA289E5E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9EFB061-D242-448D-B2B2-AA87960FCF76}" type="pres">
      <dgm:prSet presAssocID="{CC4D821F-0404-439C-A13A-93876A199CD6}" presName="hierRoot1" presStyleCnt="0"/>
      <dgm:spPr/>
    </dgm:pt>
    <dgm:pt modelId="{46720D87-F840-44EB-AD9E-8BED89888100}" type="pres">
      <dgm:prSet presAssocID="{CC4D821F-0404-439C-A13A-93876A199CD6}" presName="composite" presStyleCnt="0"/>
      <dgm:spPr/>
    </dgm:pt>
    <dgm:pt modelId="{6EB4E0DA-CFDB-4E28-9E0B-A7E80F22065F}" type="pres">
      <dgm:prSet presAssocID="{CC4D821F-0404-439C-A13A-93876A199CD6}" presName="background" presStyleLbl="node0" presStyleIdx="0" presStyleCnt="3"/>
      <dgm:spPr/>
    </dgm:pt>
    <dgm:pt modelId="{63665BFF-B9A4-4DFC-9783-74DC85945171}" type="pres">
      <dgm:prSet presAssocID="{CC4D821F-0404-439C-A13A-93876A199CD6}" presName="text" presStyleLbl="fgAcc0" presStyleIdx="0" presStyleCnt="3">
        <dgm:presLayoutVars>
          <dgm:chPref val="3"/>
        </dgm:presLayoutVars>
      </dgm:prSet>
      <dgm:spPr/>
    </dgm:pt>
    <dgm:pt modelId="{9331612B-BB77-4303-898A-B2F811D3DDE8}" type="pres">
      <dgm:prSet presAssocID="{CC4D821F-0404-439C-A13A-93876A199CD6}" presName="hierChild2" presStyleCnt="0"/>
      <dgm:spPr/>
    </dgm:pt>
    <dgm:pt modelId="{1E0D484F-40C4-483E-8700-7FC2E9917A3D}" type="pres">
      <dgm:prSet presAssocID="{D7CD7C88-D9E0-4A07-8D47-F7BAE4104BEB}" presName="hierRoot1" presStyleCnt="0"/>
      <dgm:spPr/>
    </dgm:pt>
    <dgm:pt modelId="{18C843D8-54C2-418B-AAF2-31A19B30392F}" type="pres">
      <dgm:prSet presAssocID="{D7CD7C88-D9E0-4A07-8D47-F7BAE4104BEB}" presName="composite" presStyleCnt="0"/>
      <dgm:spPr/>
    </dgm:pt>
    <dgm:pt modelId="{A7C9730B-ACF7-4198-BF49-97DB9B35F696}" type="pres">
      <dgm:prSet presAssocID="{D7CD7C88-D9E0-4A07-8D47-F7BAE4104BEB}" presName="background" presStyleLbl="node0" presStyleIdx="1" presStyleCnt="3"/>
      <dgm:spPr/>
    </dgm:pt>
    <dgm:pt modelId="{0B2117EA-C3FB-467F-B70C-A493EC51A6AD}" type="pres">
      <dgm:prSet presAssocID="{D7CD7C88-D9E0-4A07-8D47-F7BAE4104BEB}" presName="text" presStyleLbl="fgAcc0" presStyleIdx="1" presStyleCnt="3">
        <dgm:presLayoutVars>
          <dgm:chPref val="3"/>
        </dgm:presLayoutVars>
      </dgm:prSet>
      <dgm:spPr/>
    </dgm:pt>
    <dgm:pt modelId="{2BA52371-A35F-4E55-8BD7-1065DEB0D6CC}" type="pres">
      <dgm:prSet presAssocID="{D7CD7C88-D9E0-4A07-8D47-F7BAE4104BEB}" presName="hierChild2" presStyleCnt="0"/>
      <dgm:spPr/>
    </dgm:pt>
    <dgm:pt modelId="{BDF5AA8B-4E8A-434D-9D12-8B4394567249}" type="pres">
      <dgm:prSet presAssocID="{D6B5011C-AA74-4309-8ECF-3B0C3A5CE4B6}" presName="hierRoot1" presStyleCnt="0"/>
      <dgm:spPr/>
    </dgm:pt>
    <dgm:pt modelId="{467FBC80-C07B-4740-A856-0C91B14684AC}" type="pres">
      <dgm:prSet presAssocID="{D6B5011C-AA74-4309-8ECF-3B0C3A5CE4B6}" presName="composite" presStyleCnt="0"/>
      <dgm:spPr/>
    </dgm:pt>
    <dgm:pt modelId="{B33C9484-3CA7-4FD8-8D3C-61387F8F1322}" type="pres">
      <dgm:prSet presAssocID="{D6B5011C-AA74-4309-8ECF-3B0C3A5CE4B6}" presName="background" presStyleLbl="node0" presStyleIdx="2" presStyleCnt="3"/>
      <dgm:spPr/>
    </dgm:pt>
    <dgm:pt modelId="{405C9879-F1A6-41F0-8D37-1D1ADCF3E527}" type="pres">
      <dgm:prSet presAssocID="{D6B5011C-AA74-4309-8ECF-3B0C3A5CE4B6}" presName="text" presStyleLbl="fgAcc0" presStyleIdx="2" presStyleCnt="3">
        <dgm:presLayoutVars>
          <dgm:chPref val="3"/>
        </dgm:presLayoutVars>
      </dgm:prSet>
      <dgm:spPr/>
    </dgm:pt>
    <dgm:pt modelId="{B629F42E-DB2A-4488-9650-3AAE6FB72346}" type="pres">
      <dgm:prSet presAssocID="{D6B5011C-AA74-4309-8ECF-3B0C3A5CE4B6}" presName="hierChild2" presStyleCnt="0"/>
      <dgm:spPr/>
    </dgm:pt>
  </dgm:ptLst>
  <dgm:cxnLst>
    <dgm:cxn modelId="{C0523D08-FB9B-4591-85DE-2187A0ACFF6B}" type="presOf" srcId="{D7CD7C88-D9E0-4A07-8D47-F7BAE4104BEB}" destId="{0B2117EA-C3FB-467F-B70C-A493EC51A6AD}" srcOrd="0" destOrd="0" presId="urn:microsoft.com/office/officeart/2005/8/layout/hierarchy1"/>
    <dgm:cxn modelId="{B40FE551-3ECA-4888-8751-EE8530E1BC65}" type="presOf" srcId="{D6B5011C-AA74-4309-8ECF-3B0C3A5CE4B6}" destId="{405C9879-F1A6-41F0-8D37-1D1ADCF3E527}" srcOrd="0" destOrd="0" presId="urn:microsoft.com/office/officeart/2005/8/layout/hierarchy1"/>
    <dgm:cxn modelId="{E3A5BC98-5CA2-4ED6-816E-9AA48EE81A8C}" type="presOf" srcId="{1AE153BB-336F-4914-875C-C6DDA289E5EE}" destId="{C860F9B6-B23E-4F6C-A36E-1572DCC1918E}" srcOrd="0" destOrd="0" presId="urn:microsoft.com/office/officeart/2005/8/layout/hierarchy1"/>
    <dgm:cxn modelId="{439269A0-DD21-4B89-8426-E7E455DB2F3D}" type="presOf" srcId="{CC4D821F-0404-439C-A13A-93876A199CD6}" destId="{63665BFF-B9A4-4DFC-9783-74DC85945171}" srcOrd="0" destOrd="0" presId="urn:microsoft.com/office/officeart/2005/8/layout/hierarchy1"/>
    <dgm:cxn modelId="{9F9E55AC-83C6-4A0E-879C-754082718462}" srcId="{1AE153BB-336F-4914-875C-C6DDA289E5EE}" destId="{D6B5011C-AA74-4309-8ECF-3B0C3A5CE4B6}" srcOrd="2" destOrd="0" parTransId="{6FD1ABFB-EBE6-4EA6-BAC7-005E1F023C1A}" sibTransId="{16BB0105-42F7-4488-ADA2-CCC67F1B8E77}"/>
    <dgm:cxn modelId="{7B2BF4DC-341E-4A37-A039-CF9B041F7D82}" srcId="{1AE153BB-336F-4914-875C-C6DDA289E5EE}" destId="{CC4D821F-0404-439C-A13A-93876A199CD6}" srcOrd="0" destOrd="0" parTransId="{0FF3A6FE-DF4E-4C2A-AEEC-1F32F550F54B}" sibTransId="{C511F02A-5895-4856-AB2C-CEC011D3D558}"/>
    <dgm:cxn modelId="{29A270EA-A511-4BCE-B87D-8C65B5F911CB}" srcId="{1AE153BB-336F-4914-875C-C6DDA289E5EE}" destId="{D7CD7C88-D9E0-4A07-8D47-F7BAE4104BEB}" srcOrd="1" destOrd="0" parTransId="{D099C770-D9C6-4F02-BC6E-AEF7A0A52B20}" sibTransId="{3125EA3E-B6C0-44B8-A671-5C3AB9838389}"/>
    <dgm:cxn modelId="{775AB8E0-AE91-4B1B-AC4A-F75466AA0EE1}" type="presParOf" srcId="{C860F9B6-B23E-4F6C-A36E-1572DCC1918E}" destId="{49EFB061-D242-448D-B2B2-AA87960FCF76}" srcOrd="0" destOrd="0" presId="urn:microsoft.com/office/officeart/2005/8/layout/hierarchy1"/>
    <dgm:cxn modelId="{0643C8F9-D203-4959-8FD4-3B2C5E04A297}" type="presParOf" srcId="{49EFB061-D242-448D-B2B2-AA87960FCF76}" destId="{46720D87-F840-44EB-AD9E-8BED89888100}" srcOrd="0" destOrd="0" presId="urn:microsoft.com/office/officeart/2005/8/layout/hierarchy1"/>
    <dgm:cxn modelId="{2A8C97FD-E5A6-4098-A520-48BDA8D54722}" type="presParOf" srcId="{46720D87-F840-44EB-AD9E-8BED89888100}" destId="{6EB4E0DA-CFDB-4E28-9E0B-A7E80F22065F}" srcOrd="0" destOrd="0" presId="urn:microsoft.com/office/officeart/2005/8/layout/hierarchy1"/>
    <dgm:cxn modelId="{869F4E60-5487-47C1-9C8F-7252F4CB5E83}" type="presParOf" srcId="{46720D87-F840-44EB-AD9E-8BED89888100}" destId="{63665BFF-B9A4-4DFC-9783-74DC85945171}" srcOrd="1" destOrd="0" presId="urn:microsoft.com/office/officeart/2005/8/layout/hierarchy1"/>
    <dgm:cxn modelId="{687CE937-ADC1-41A5-808D-EE3958819B09}" type="presParOf" srcId="{49EFB061-D242-448D-B2B2-AA87960FCF76}" destId="{9331612B-BB77-4303-898A-B2F811D3DDE8}" srcOrd="1" destOrd="0" presId="urn:microsoft.com/office/officeart/2005/8/layout/hierarchy1"/>
    <dgm:cxn modelId="{86A94287-59AD-4DEB-8C80-3C1838F8D780}" type="presParOf" srcId="{C860F9B6-B23E-4F6C-A36E-1572DCC1918E}" destId="{1E0D484F-40C4-483E-8700-7FC2E9917A3D}" srcOrd="1" destOrd="0" presId="urn:microsoft.com/office/officeart/2005/8/layout/hierarchy1"/>
    <dgm:cxn modelId="{B3E9821B-C3ED-4169-990A-45B61EFD6554}" type="presParOf" srcId="{1E0D484F-40C4-483E-8700-7FC2E9917A3D}" destId="{18C843D8-54C2-418B-AAF2-31A19B30392F}" srcOrd="0" destOrd="0" presId="urn:microsoft.com/office/officeart/2005/8/layout/hierarchy1"/>
    <dgm:cxn modelId="{1E747901-6ED8-4F2A-9D54-9E1D51AB574C}" type="presParOf" srcId="{18C843D8-54C2-418B-AAF2-31A19B30392F}" destId="{A7C9730B-ACF7-4198-BF49-97DB9B35F696}" srcOrd="0" destOrd="0" presId="urn:microsoft.com/office/officeart/2005/8/layout/hierarchy1"/>
    <dgm:cxn modelId="{E60D4E56-E48B-4017-95C5-63C052CAD7F3}" type="presParOf" srcId="{18C843D8-54C2-418B-AAF2-31A19B30392F}" destId="{0B2117EA-C3FB-467F-B70C-A493EC51A6AD}" srcOrd="1" destOrd="0" presId="urn:microsoft.com/office/officeart/2005/8/layout/hierarchy1"/>
    <dgm:cxn modelId="{5C2A9BAF-2C99-48A6-A2C6-E363656459E2}" type="presParOf" srcId="{1E0D484F-40C4-483E-8700-7FC2E9917A3D}" destId="{2BA52371-A35F-4E55-8BD7-1065DEB0D6CC}" srcOrd="1" destOrd="0" presId="urn:microsoft.com/office/officeart/2005/8/layout/hierarchy1"/>
    <dgm:cxn modelId="{FF979E7D-44D0-4EC3-802B-A547ECF9BACD}" type="presParOf" srcId="{C860F9B6-B23E-4F6C-A36E-1572DCC1918E}" destId="{BDF5AA8B-4E8A-434D-9D12-8B4394567249}" srcOrd="2" destOrd="0" presId="urn:microsoft.com/office/officeart/2005/8/layout/hierarchy1"/>
    <dgm:cxn modelId="{6835B7A5-96F7-428D-B2D0-EF95057A7F57}" type="presParOf" srcId="{BDF5AA8B-4E8A-434D-9D12-8B4394567249}" destId="{467FBC80-C07B-4740-A856-0C91B14684AC}" srcOrd="0" destOrd="0" presId="urn:microsoft.com/office/officeart/2005/8/layout/hierarchy1"/>
    <dgm:cxn modelId="{E147D190-DA66-439C-A7DA-CFA797961EF4}" type="presParOf" srcId="{467FBC80-C07B-4740-A856-0C91B14684AC}" destId="{B33C9484-3CA7-4FD8-8D3C-61387F8F1322}" srcOrd="0" destOrd="0" presId="urn:microsoft.com/office/officeart/2005/8/layout/hierarchy1"/>
    <dgm:cxn modelId="{94747647-DDE5-426A-9935-5DB04BF2E7B6}" type="presParOf" srcId="{467FBC80-C07B-4740-A856-0C91B14684AC}" destId="{405C9879-F1A6-41F0-8D37-1D1ADCF3E527}" srcOrd="1" destOrd="0" presId="urn:microsoft.com/office/officeart/2005/8/layout/hierarchy1"/>
    <dgm:cxn modelId="{E8BEB826-2EF5-418F-AD97-E65CE6589B0B}" type="presParOf" srcId="{BDF5AA8B-4E8A-434D-9D12-8B4394567249}" destId="{B629F42E-DB2A-4488-9650-3AAE6FB7234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B4E0DA-CFDB-4E28-9E0B-A7E80F22065F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65BFF-B9A4-4DFC-9783-74DC85945171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Phishing emails are a common cybersecurity threat</a:t>
          </a:r>
          <a:endParaRPr lang="en-US" sz="2200" kern="1200"/>
        </a:p>
      </dsp:txBody>
      <dsp:txXfrm>
        <a:off x="378614" y="886531"/>
        <a:ext cx="2810360" cy="1744948"/>
      </dsp:txXfrm>
    </dsp:sp>
    <dsp:sp modelId="{A7C9730B-ACF7-4198-BF49-97DB9B35F696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117EA-C3FB-467F-B70C-A493EC51A6AD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They try to trick users into clicking links or revealing sensitive information</a:t>
          </a:r>
          <a:endParaRPr lang="en-US" sz="2200" kern="1200"/>
        </a:p>
      </dsp:txBody>
      <dsp:txXfrm>
        <a:off x="3946203" y="886531"/>
        <a:ext cx="2810360" cy="1744948"/>
      </dsp:txXfrm>
    </dsp:sp>
    <dsp:sp modelId="{B33C9484-3CA7-4FD8-8D3C-61387F8F1322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C9879-F1A6-41F0-8D37-1D1ADCF3E527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Automatic detection can help identify dangerous emails earlier</a:t>
          </a:r>
          <a:endParaRPr lang="en-US" sz="2200" kern="1200"/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536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05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462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642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914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550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993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916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066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251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51718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1C0BB-DC71-4713-A787-95011EDB8CA8}" type="datetimeFigureOut">
              <a:rPr lang="pt-PT" smtClean="0"/>
              <a:t>02/07/2026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206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pt-PT" sz="6600">
                <a:ea typeface="+mj-lt"/>
                <a:cs typeface="+mj-lt"/>
              </a:rPr>
              <a:t>A Comparative Study of Classical and Transformer-Based Models for Phishing Email Detection</a:t>
            </a:r>
            <a:endParaRPr lang="pt-PT" sz="66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pt-PT"/>
              <a:t>Student: João Bernardo SOUSA FARIA</a:t>
            </a:r>
            <a:endParaRPr lang="en-US"/>
          </a:p>
          <a:p>
            <a:pPr algn="l">
              <a:spcBef>
                <a:spcPts val="0"/>
              </a:spcBef>
            </a:pPr>
            <a:r>
              <a:rPr lang="pt-PT"/>
              <a:t>Student ID: 0232421751</a:t>
            </a:r>
            <a:endParaRPr lang="en-US"/>
          </a:p>
          <a:p>
            <a:pPr algn="l">
              <a:spcBef>
                <a:spcPts val="0"/>
              </a:spcBef>
            </a:pPr>
            <a:r>
              <a:rPr lang="pt-PT"/>
              <a:t>Supervisor: Salima LAMSIYAH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661061-8713-8EEF-7AA9-4A970B972C04}"/>
              </a:ext>
            </a:extLst>
          </p:cNvPr>
          <p:cNvSpPr txBox="1"/>
          <p:nvPr/>
        </p:nvSpPr>
        <p:spPr>
          <a:xfrm>
            <a:off x="8334971" y="5364270"/>
            <a:ext cx="35193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Bachelor Semester Project 6</a:t>
            </a:r>
          </a:p>
        </p:txBody>
      </p:sp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EE7714-897F-B0FC-C446-710EC7DA0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pt-PT" sz="4800"/>
              <a:t>Why Phishing Email Detection?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64BB1273-6A5D-43B2-3B0F-9FB771C39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91682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1744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D1F88B-AE38-AF20-CF1A-786BBFD7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pt-PT" sz="7200"/>
              <a:t>Research Objective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EA56D51-B6E9-E38C-C749-17681E62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PT" sz="2200" b="1"/>
              <a:t>Scientific Question</a:t>
            </a:r>
            <a:r>
              <a:rPr lang="pt-PT" sz="2200"/>
              <a:t>: </a:t>
            </a:r>
            <a:r>
              <a:rPr lang="pt-PT" sz="2200">
                <a:ea typeface="+mn-lt"/>
                <a:cs typeface="+mn-lt"/>
              </a:rPr>
              <a:t>How do classical feature-based models compare with transformer-based models for phishing email detection?</a:t>
            </a:r>
            <a:endParaRPr lang="pt-PT"/>
          </a:p>
          <a:p>
            <a:endParaRPr lang="pt-PT" sz="2200">
              <a:ea typeface="+mn-lt"/>
              <a:cs typeface="+mn-lt"/>
            </a:endParaRPr>
          </a:p>
          <a:p>
            <a:pPr marL="0" indent="0">
              <a:buNone/>
            </a:pPr>
            <a:r>
              <a:rPr lang="pt-PT" sz="2200" b="1">
                <a:ea typeface="+mn-lt"/>
                <a:cs typeface="+mn-lt"/>
              </a:rPr>
              <a:t>Classical model:</a:t>
            </a:r>
            <a:r>
              <a:rPr lang="pt-PT" sz="2200">
                <a:ea typeface="+mn-lt"/>
                <a:cs typeface="+mn-lt"/>
              </a:rPr>
              <a:t> TF-IDF + Logistic Regression</a:t>
            </a:r>
          </a:p>
          <a:p>
            <a:pPr marL="0" indent="0">
              <a:buNone/>
            </a:pPr>
            <a:r>
              <a:rPr lang="pt-PT" sz="2200" b="1">
                <a:ea typeface="+mn-lt"/>
                <a:cs typeface="+mn-lt"/>
              </a:rPr>
              <a:t>Transformer model:</a:t>
            </a:r>
            <a:r>
              <a:rPr lang="pt-PT" sz="2200">
                <a:ea typeface="+mn-lt"/>
                <a:cs typeface="+mn-lt"/>
              </a:rPr>
              <a:t> fine-tuned BERT</a:t>
            </a:r>
            <a:endParaRPr lang="pt-PT" sz="2200"/>
          </a:p>
          <a:p>
            <a:pPr marL="0" indent="0">
              <a:buNone/>
            </a:pPr>
            <a:r>
              <a:rPr lang="pt-PT" sz="2200" b="1">
                <a:ea typeface="+mn-lt"/>
                <a:cs typeface="+mn-lt"/>
              </a:rPr>
              <a:t>Focus:</a:t>
            </a:r>
            <a:r>
              <a:rPr lang="pt-PT" sz="2200">
                <a:ea typeface="+mn-lt"/>
                <a:cs typeface="+mn-lt"/>
              </a:rPr>
              <a:t> performance, interpretability, and generalization</a:t>
            </a:r>
            <a:endParaRPr lang="pt-PT" sz="2200"/>
          </a:p>
        </p:txBody>
      </p:sp>
    </p:spTree>
    <p:extLst>
      <p:ext uri="{BB962C8B-B14F-4D97-AF65-F5344CB8AC3E}">
        <p14:creationId xmlns:p14="http://schemas.microsoft.com/office/powerpoint/2010/main" val="152362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45FC66-F041-0C57-A090-F7A96818E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C6E327D-652E-E7D4-446B-82C14F387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626"/>
            <a:ext cx="5158427" cy="37304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Primary dataset:</a:t>
            </a:r>
            <a:endParaRPr lang="en-US" sz="2400" dirty="0"/>
          </a:p>
          <a:p>
            <a:r>
              <a:rPr lang="en-US" sz="2400" dirty="0" err="1"/>
              <a:t>zefang-liu</a:t>
            </a:r>
            <a:r>
              <a:rPr lang="en-US" sz="2400" dirty="0"/>
              <a:t>/phishing-email-dataset</a:t>
            </a:r>
          </a:p>
          <a:p>
            <a:r>
              <a:rPr lang="en-US" sz="2400"/>
              <a:t>17,537 emails after preprocessing</a:t>
            </a:r>
            <a:endParaRPr lang="en-US" sz="2400" dirty="0"/>
          </a:p>
          <a:p>
            <a:r>
              <a:rPr lang="en-US" sz="2400"/>
              <a:t>10,979 safe / 6,558 phishing</a:t>
            </a:r>
          </a:p>
          <a:p>
            <a:r>
              <a:rPr lang="en-US" sz="2400"/>
              <a:t>label = 0: Safe email</a:t>
            </a:r>
          </a:p>
          <a:p>
            <a:r>
              <a:rPr lang="en-US" sz="2400"/>
              <a:t>label = 1: Phishing email</a:t>
            </a:r>
            <a:endParaRPr lang="en-US" sz="2400" dirty="0"/>
          </a:p>
        </p:txBody>
      </p:sp>
      <p:sp>
        <p:nvSpPr>
          <p:cNvPr id="6" name="Marcador de Posição de Conteúdo 2">
            <a:extLst>
              <a:ext uri="{FF2B5EF4-FFF2-40B4-BE49-F238E27FC236}">
                <a16:creationId xmlns:a16="http://schemas.microsoft.com/office/drawing/2014/main" id="{0171DE18-A4DB-A6DD-1372-1800E5CCD8B5}"/>
              </a:ext>
            </a:extLst>
          </p:cNvPr>
          <p:cNvSpPr txBox="1">
            <a:spLocks/>
          </p:cNvSpPr>
          <p:nvPr/>
        </p:nvSpPr>
        <p:spPr>
          <a:xfrm>
            <a:off x="6189154" y="2398626"/>
            <a:ext cx="5164645" cy="37304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Second dataset:</a:t>
            </a:r>
            <a:endParaRPr lang="pt-PT" sz="2400"/>
          </a:p>
          <a:p>
            <a:r>
              <a:rPr lang="en-US" sz="2400" dirty="0" err="1"/>
              <a:t>DIFraud</a:t>
            </a:r>
            <a:r>
              <a:rPr lang="en-US" sz="2400" dirty="0"/>
              <a:t> phishing benchmark</a:t>
            </a:r>
          </a:p>
          <a:p>
            <a:r>
              <a:rPr lang="en-US" sz="2400"/>
              <a:t>Used for cross-dataset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236427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885BCD29-C8D3-DD78-B423-A477CBC01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783351"/>
              </p:ext>
            </p:extLst>
          </p:nvPr>
        </p:nvGraphicFramePr>
        <p:xfrm>
          <a:off x="643467" y="2060284"/>
          <a:ext cx="10905070" cy="2737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165">
                  <a:extLst>
                    <a:ext uri="{9D8B030D-6E8A-4147-A177-3AD203B41FA5}">
                      <a16:colId xmlns:a16="http://schemas.microsoft.com/office/drawing/2014/main" val="2078942466"/>
                    </a:ext>
                  </a:extLst>
                </a:gridCol>
                <a:gridCol w="1128527">
                  <a:extLst>
                    <a:ext uri="{9D8B030D-6E8A-4147-A177-3AD203B41FA5}">
                      <a16:colId xmlns:a16="http://schemas.microsoft.com/office/drawing/2014/main" val="3663593706"/>
                    </a:ext>
                  </a:extLst>
                </a:gridCol>
                <a:gridCol w="1339749">
                  <a:extLst>
                    <a:ext uri="{9D8B030D-6E8A-4147-A177-3AD203B41FA5}">
                      <a16:colId xmlns:a16="http://schemas.microsoft.com/office/drawing/2014/main" val="2985030083"/>
                    </a:ext>
                  </a:extLst>
                </a:gridCol>
                <a:gridCol w="2244984">
                  <a:extLst>
                    <a:ext uri="{9D8B030D-6E8A-4147-A177-3AD203B41FA5}">
                      <a16:colId xmlns:a16="http://schemas.microsoft.com/office/drawing/2014/main" val="2833374623"/>
                    </a:ext>
                  </a:extLst>
                </a:gridCol>
                <a:gridCol w="1762192">
                  <a:extLst>
                    <a:ext uri="{9D8B030D-6E8A-4147-A177-3AD203B41FA5}">
                      <a16:colId xmlns:a16="http://schemas.microsoft.com/office/drawing/2014/main" val="197433790"/>
                    </a:ext>
                  </a:extLst>
                </a:gridCol>
                <a:gridCol w="1807453">
                  <a:extLst>
                    <a:ext uri="{9D8B030D-6E8A-4147-A177-3AD203B41FA5}">
                      <a16:colId xmlns:a16="http://schemas.microsoft.com/office/drawing/2014/main" val="919992077"/>
                    </a:ext>
                  </a:extLst>
                </a:gridCol>
              </a:tblGrid>
              <a:tr h="1129734">
                <a:tc>
                  <a:txBody>
                    <a:bodyPr/>
                    <a:lstStyle/>
                    <a:p>
                      <a:pPr algn="ctr"/>
                      <a:endParaRPr lang="pt-PT" sz="2100" dirty="0"/>
                    </a:p>
                    <a:p>
                      <a:pPr lvl="0" algn="ctr">
                        <a:buNone/>
                      </a:pPr>
                      <a:r>
                        <a:rPr lang="pt-PT" sz="2100"/>
                        <a:t>Dataset</a:t>
                      </a:r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endParaRPr lang="pt-PT" sz="2100" dirty="0"/>
                    </a:p>
                    <a:p>
                      <a:pPr lvl="0" algn="ctr">
                        <a:buNone/>
                      </a:pPr>
                      <a:r>
                        <a:rPr lang="pt-PT" sz="2100"/>
                        <a:t>Rows</a:t>
                      </a:r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Number of safe</a:t>
                      </a:r>
                    </a:p>
                    <a:p>
                      <a:pPr lvl="0" algn="ctr">
                        <a:buNone/>
                      </a:pPr>
                      <a:r>
                        <a:rPr lang="pt-PT" sz="2100"/>
                        <a:t>emails</a:t>
                      </a:r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Number of phishing emails</a:t>
                      </a:r>
                      <a:endParaRPr lang="pt-PT" sz="2100" dirty="0"/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Phishing Percentage</a:t>
                      </a:r>
                      <a:endParaRPr lang="pt-PT" sz="2100" dirty="0"/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Average Text Length</a:t>
                      </a:r>
                    </a:p>
                  </a:txBody>
                  <a:tcPr marL="108628" marR="108628" marT="54314" marB="54314"/>
                </a:tc>
                <a:extLst>
                  <a:ext uri="{0D108BD9-81ED-4DB2-BD59-A6C34878D82A}">
                    <a16:rowId xmlns:a16="http://schemas.microsoft.com/office/drawing/2014/main" val="3183622795"/>
                  </a:ext>
                </a:extLst>
              </a:tr>
              <a:tr h="80384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21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zefang-liu/phishing-email-dataset</a:t>
                      </a:r>
                      <a:endParaRPr lang="pt-PT" sz="2100">
                        <a:solidFill>
                          <a:schemeClr val="tx1"/>
                        </a:solidFill>
                      </a:endParaRPr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17537</a:t>
                      </a:r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10979</a:t>
                      </a:r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6558</a:t>
                      </a:r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37.40</a:t>
                      </a:r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2861.99</a:t>
                      </a:r>
                    </a:p>
                  </a:txBody>
                  <a:tcPr marL="108628" marR="108628" marT="54314" marB="54314"/>
                </a:tc>
                <a:extLst>
                  <a:ext uri="{0D108BD9-81ED-4DB2-BD59-A6C34878D82A}">
                    <a16:rowId xmlns:a16="http://schemas.microsoft.com/office/drawing/2014/main" val="3438134451"/>
                  </a:ext>
                </a:extLst>
              </a:tr>
              <a:tr h="803849">
                <a:tc>
                  <a:txBody>
                    <a:bodyPr/>
                    <a:lstStyle/>
                    <a:p>
                      <a:pPr algn="ctr"/>
                      <a:r>
                        <a:rPr lang="pt-PT" sz="21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difraud/difraud phishing</a:t>
                      </a:r>
                      <a:endParaRPr lang="pt-PT" sz="2100">
                        <a:solidFill>
                          <a:schemeClr val="tx1"/>
                        </a:solidFill>
                      </a:endParaRPr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15272</a:t>
                      </a:r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9198</a:t>
                      </a:r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6074</a:t>
                      </a:r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39.77</a:t>
                      </a:r>
                    </a:p>
                  </a:txBody>
                  <a:tcPr marL="108628" marR="108628" marT="54314" marB="543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100"/>
                        <a:t>2260.79</a:t>
                      </a:r>
                    </a:p>
                  </a:txBody>
                  <a:tcPr marL="108628" marR="108628" marT="54314" marB="54314"/>
                </a:tc>
                <a:extLst>
                  <a:ext uri="{0D108BD9-81ED-4DB2-BD59-A6C34878D82A}">
                    <a16:rowId xmlns:a16="http://schemas.microsoft.com/office/drawing/2014/main" val="3030221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7006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EE801-AE20-DCA9-3105-DB102DFE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Preprocessing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805D8A17-0072-4175-8B6F-9F115A86D633}"/>
              </a:ext>
            </a:extLst>
          </p:cNvPr>
          <p:cNvSpPr/>
          <p:nvPr/>
        </p:nvSpPr>
        <p:spPr>
          <a:xfrm>
            <a:off x="4168187" y="2366878"/>
            <a:ext cx="679231" cy="496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8F17F3A-45E2-7C8F-953C-90C82A54C3CC}"/>
              </a:ext>
            </a:extLst>
          </p:cNvPr>
          <p:cNvSpPr/>
          <p:nvPr/>
        </p:nvSpPr>
        <p:spPr>
          <a:xfrm>
            <a:off x="5133342" y="2061936"/>
            <a:ext cx="2639498" cy="11189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/>
              <a:t>Removal of missing values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96DFF83-9A96-4D66-6590-DF5F38FB2D8F}"/>
              </a:ext>
            </a:extLst>
          </p:cNvPr>
          <p:cNvSpPr/>
          <p:nvPr/>
        </p:nvSpPr>
        <p:spPr>
          <a:xfrm>
            <a:off x="1134655" y="2061935"/>
            <a:ext cx="2639498" cy="11189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/>
              <a:t>Raw Emails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83641598-7B4C-1F91-7527-B0897DF5DEF0}"/>
              </a:ext>
            </a:extLst>
          </p:cNvPr>
          <p:cNvSpPr/>
          <p:nvPr/>
        </p:nvSpPr>
        <p:spPr>
          <a:xfrm>
            <a:off x="8145101" y="2366877"/>
            <a:ext cx="679231" cy="496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D1D6E03-752A-2345-0369-A277EBD28D83}"/>
              </a:ext>
            </a:extLst>
          </p:cNvPr>
          <p:cNvSpPr/>
          <p:nvPr/>
        </p:nvSpPr>
        <p:spPr>
          <a:xfrm>
            <a:off x="9044941" y="2061935"/>
            <a:ext cx="2639498" cy="11189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/>
              <a:t>Map labels to 0/1</a:t>
            </a:r>
            <a:endParaRPr lang="pt-PT" dirty="0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A18AEF3D-6347-EE40-1B58-2910138292C3}"/>
              </a:ext>
            </a:extLst>
          </p:cNvPr>
          <p:cNvSpPr/>
          <p:nvPr/>
        </p:nvSpPr>
        <p:spPr>
          <a:xfrm>
            <a:off x="2114415" y="4362591"/>
            <a:ext cx="679231" cy="496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3CE6585-783B-5694-DEE6-E34C95D58BB0}"/>
              </a:ext>
            </a:extLst>
          </p:cNvPr>
          <p:cNvSpPr/>
          <p:nvPr/>
        </p:nvSpPr>
        <p:spPr>
          <a:xfrm>
            <a:off x="3188426" y="4173763"/>
            <a:ext cx="2639498" cy="11189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/>
              <a:t>Removal of Duplicates</a:t>
            </a: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9EE91299-22F5-1851-C2B5-C827432F145E}"/>
              </a:ext>
            </a:extLst>
          </p:cNvPr>
          <p:cNvSpPr/>
          <p:nvPr/>
        </p:nvSpPr>
        <p:spPr>
          <a:xfrm>
            <a:off x="6113099" y="4362590"/>
            <a:ext cx="679231" cy="496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55B6784-C13F-B98C-C0AC-3C17DEA4CD6F}"/>
              </a:ext>
            </a:extLst>
          </p:cNvPr>
          <p:cNvSpPr/>
          <p:nvPr/>
        </p:nvSpPr>
        <p:spPr>
          <a:xfrm>
            <a:off x="7165339" y="4173762"/>
            <a:ext cx="2639498" cy="11189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/>
              <a:t>Stratified Splits</a:t>
            </a:r>
          </a:p>
          <a:p>
            <a:pPr algn="ctr"/>
            <a:r>
              <a:rPr lang="pt-PT"/>
              <a:t>(train, dev, test)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78842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C66C6-7089-9026-4909-3A9F29ADE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6896"/>
            <a:ext cx="10515600" cy="1325563"/>
          </a:xfrm>
        </p:spPr>
        <p:txBody>
          <a:bodyPr/>
          <a:lstStyle/>
          <a:p>
            <a:pPr algn="ctr"/>
            <a:r>
              <a:rPr lang="pt-PT"/>
              <a:t>Example Emails and Labels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B8E89E8-277E-DA99-EB4F-40F9FCAB73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" r="-105" b="30914"/>
          <a:stretch>
            <a:fillRect/>
          </a:stretch>
        </p:blipFill>
        <p:spPr>
          <a:xfrm>
            <a:off x="192959" y="2350406"/>
            <a:ext cx="11856628" cy="1861329"/>
          </a:xfrm>
          <a:prstGeom prst="rect">
            <a:avLst/>
          </a:prstGeom>
        </p:spPr>
      </p:pic>
      <p:pic>
        <p:nvPicPr>
          <p:cNvPr id="5" name="Imagem 4" descr="Uma imagem com texto, Tipo de letra, captura de ecrã&#10;&#10;Os conteúdos gerados por IA poderão estar incorretos.">
            <a:extLst>
              <a:ext uri="{FF2B5EF4-FFF2-40B4-BE49-F238E27FC236}">
                <a16:creationId xmlns:a16="http://schemas.microsoft.com/office/drawing/2014/main" id="{75CA798A-541D-0207-6E27-0AE2B06288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6" t="84946" r="97" b="269"/>
          <a:stretch>
            <a:fillRect/>
          </a:stretch>
        </p:blipFill>
        <p:spPr>
          <a:xfrm>
            <a:off x="196825" y="4208352"/>
            <a:ext cx="11845940" cy="39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999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7CF5F9-25E4-30C1-61D2-DBF3AA67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Models (Comparison)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DB1D0AA-5309-6D49-86BD-2A2ADD7B7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8" y="2398626"/>
            <a:ext cx="4106141" cy="37304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TF-IDF + Logistic Regression</a:t>
            </a:r>
            <a:endParaRPr lang="pt-PT" sz="2400" b="1"/>
          </a:p>
          <a:p>
            <a:r>
              <a:rPr lang="en-US" sz="2400"/>
              <a:t>Fast</a:t>
            </a:r>
          </a:p>
          <a:p>
            <a:r>
              <a:rPr lang="en-US" sz="2400"/>
              <a:t>Simple</a:t>
            </a:r>
          </a:p>
          <a:p>
            <a:r>
              <a:rPr lang="en-US" sz="2400"/>
              <a:t>Interpretable</a:t>
            </a:r>
          </a:p>
          <a:p>
            <a:r>
              <a:rPr lang="en-US" sz="2400"/>
              <a:t>Coefficients can be inspected</a:t>
            </a:r>
          </a:p>
        </p:txBody>
      </p:sp>
      <p:sp>
        <p:nvSpPr>
          <p:cNvPr id="5" name="Marcador de Posição de Conteúdo 2">
            <a:extLst>
              <a:ext uri="{FF2B5EF4-FFF2-40B4-BE49-F238E27FC236}">
                <a16:creationId xmlns:a16="http://schemas.microsoft.com/office/drawing/2014/main" id="{E20BB72E-3900-37ED-AEAE-2601188DF7F7}"/>
              </a:ext>
            </a:extLst>
          </p:cNvPr>
          <p:cNvSpPr txBox="1">
            <a:spLocks/>
          </p:cNvSpPr>
          <p:nvPr/>
        </p:nvSpPr>
        <p:spPr>
          <a:xfrm>
            <a:off x="4287782" y="2398626"/>
            <a:ext cx="3822074" cy="37304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BERT</a:t>
            </a:r>
            <a:endParaRPr lang="pt-PT" sz="2400" b="1"/>
          </a:p>
          <a:p>
            <a:r>
              <a:rPr lang="en-US" sz="2400"/>
              <a:t>Contextual language model</a:t>
            </a:r>
          </a:p>
          <a:p>
            <a:r>
              <a:rPr lang="en-US" sz="2400"/>
              <a:t>Understands word context</a:t>
            </a:r>
          </a:p>
          <a:p>
            <a:r>
              <a:rPr lang="en-US" sz="2400"/>
              <a:t>Higher computational cost</a:t>
            </a:r>
          </a:p>
          <a:p>
            <a:pPr marL="0"/>
            <a:r>
              <a:rPr lang="en-US" sz="2400"/>
              <a:t>Less directly interpretable</a:t>
            </a: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9EFDB28C-2FAE-CF1D-1237-0F16BD73B453}"/>
              </a:ext>
            </a:extLst>
          </p:cNvPr>
          <p:cNvSpPr txBox="1">
            <a:spLocks/>
          </p:cNvSpPr>
          <p:nvPr/>
        </p:nvSpPr>
        <p:spPr>
          <a:xfrm>
            <a:off x="7988924" y="2398625"/>
            <a:ext cx="3822074" cy="37304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400" b="1">
                <a:ea typeface="+mn-lt"/>
                <a:cs typeface="+mn-lt"/>
              </a:rPr>
              <a:t>Zero-shot NLI (Natural Language Inference)</a:t>
            </a:r>
            <a:endParaRPr lang="pt-PT" b="1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• No phishing-specific training</a:t>
            </a:r>
            <a:endParaRPr lang="en-US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• Uses label hypotheses</a:t>
            </a:r>
            <a:endParaRPr lang="en-US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• Evaluated on 200-email subset</a:t>
            </a:r>
            <a:endParaRPr lang="en-US"/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• Exploratory baseline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82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B71473-4DAE-74E7-9347-3BBF26ADD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t-PT" sz="4800"/>
              <a:t>Threshold Tuning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84AA2CB-6E5A-E011-7F96-8ABE1E8BF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z="2400" b="1">
                <a:ea typeface="+mn-lt"/>
                <a:cs typeface="+mn-lt"/>
              </a:rPr>
              <a:t>Default threshold:</a:t>
            </a:r>
            <a:r>
              <a:rPr lang="pt-PT" sz="2400">
                <a:ea typeface="+mn-lt"/>
                <a:cs typeface="+mn-lt"/>
              </a:rPr>
              <a:t> 0.50</a:t>
            </a:r>
            <a:endParaRPr lang="pt-PT" sz="2400"/>
          </a:p>
          <a:p>
            <a:r>
              <a:rPr lang="pt-PT" sz="2400" b="1">
                <a:ea typeface="+mn-lt"/>
                <a:cs typeface="+mn-lt"/>
              </a:rPr>
              <a:t>Optimized threshold:</a:t>
            </a:r>
            <a:r>
              <a:rPr lang="pt-PT" sz="2400">
                <a:ea typeface="+mn-lt"/>
                <a:cs typeface="+mn-lt"/>
              </a:rPr>
              <a:t> selected on the validation set for each model</a:t>
            </a:r>
            <a:endParaRPr lang="pt-PT" sz="2400"/>
          </a:p>
          <a:p>
            <a:r>
              <a:rPr lang="pt-PT" sz="2400" b="1">
                <a:ea typeface="+mn-lt"/>
                <a:cs typeface="+mn-lt"/>
              </a:rPr>
              <a:t>Goal:</a:t>
            </a:r>
            <a:r>
              <a:rPr lang="pt-PT" sz="2400">
                <a:ea typeface="+mn-lt"/>
                <a:cs typeface="+mn-lt"/>
              </a:rPr>
              <a:t> maximize phishing F1-score</a:t>
            </a:r>
            <a:endParaRPr lang="pt-PT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393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B435F7-98BF-2576-24A8-0D599EBE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pt-PT" sz="7200"/>
              <a:t>Evaluation Metrics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54A28D1-8182-5B35-33CB-4B3076521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pt-PT" sz="2400">
                <a:ea typeface="+mn-lt"/>
                <a:cs typeface="+mn-lt"/>
              </a:rPr>
              <a:t>Accuracy (overall percentage of correct predictions)</a:t>
            </a:r>
            <a:endParaRPr lang="pt-PT" sz="2400"/>
          </a:p>
          <a:p>
            <a:r>
              <a:rPr lang="pt-PT" sz="2400">
                <a:ea typeface="+mn-lt"/>
                <a:cs typeface="+mn-lt"/>
              </a:rPr>
              <a:t>Phishing precision (how many predicted phishing emails were truly phishing)</a:t>
            </a:r>
            <a:endParaRPr lang="pt-PT" sz="2400"/>
          </a:p>
          <a:p>
            <a:r>
              <a:rPr lang="pt-PT" sz="2400">
                <a:ea typeface="+mn-lt"/>
                <a:cs typeface="+mn-lt"/>
              </a:rPr>
              <a:t>Phishing recall (how many real phishing emails were detected)</a:t>
            </a:r>
            <a:endParaRPr lang="pt-PT" sz="2400"/>
          </a:p>
          <a:p>
            <a:r>
              <a:rPr lang="pt-PT" sz="2400" u="sng">
                <a:ea typeface="+mn-lt"/>
                <a:cs typeface="+mn-lt"/>
              </a:rPr>
              <a:t>Phishing F1-score (balance between phishing precision and recall)</a:t>
            </a:r>
            <a:endParaRPr lang="pt-PT" sz="2400" u="sng"/>
          </a:p>
          <a:p>
            <a:r>
              <a:rPr lang="pt-PT" sz="2400">
                <a:ea typeface="+mn-lt"/>
                <a:cs typeface="+mn-lt"/>
              </a:rPr>
              <a:t>Macro-F1 (average F1 of both classes equally)</a:t>
            </a:r>
          </a:p>
          <a:p>
            <a:r>
              <a:rPr lang="pt-PT" sz="2400">
                <a:ea typeface="+mn-lt"/>
                <a:cs typeface="+mn-lt"/>
              </a:rPr>
              <a:t>Micro-F1 (overall F1 across all predictions)</a:t>
            </a:r>
            <a:endParaRPr lang="pt-PT"/>
          </a:p>
          <a:p>
            <a:r>
              <a:rPr lang="pt-PT" sz="2400">
                <a:ea typeface="+mn-lt"/>
                <a:cs typeface="+mn-lt"/>
              </a:rPr>
              <a:t>Weighted-F1 (average F1 weighted by the number of examples in each class)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6396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180AB2-249E-8E0E-24B1-5C85A211D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Main Results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6A43F8B8-59D4-3D09-A43D-C7A62105C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021020"/>
              </p:ext>
            </p:extLst>
          </p:nvPr>
        </p:nvGraphicFramePr>
        <p:xfrm>
          <a:off x="319314" y="2068286"/>
          <a:ext cx="11548872" cy="416730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568832">
                  <a:extLst>
                    <a:ext uri="{9D8B030D-6E8A-4147-A177-3AD203B41FA5}">
                      <a16:colId xmlns:a16="http://schemas.microsoft.com/office/drawing/2014/main" val="2299576963"/>
                    </a:ext>
                  </a:extLst>
                </a:gridCol>
                <a:gridCol w="1460464">
                  <a:extLst>
                    <a:ext uri="{9D8B030D-6E8A-4147-A177-3AD203B41FA5}">
                      <a16:colId xmlns:a16="http://schemas.microsoft.com/office/drawing/2014/main" val="2818998913"/>
                    </a:ext>
                  </a:extLst>
                </a:gridCol>
                <a:gridCol w="1354614">
                  <a:extLst>
                    <a:ext uri="{9D8B030D-6E8A-4147-A177-3AD203B41FA5}">
                      <a16:colId xmlns:a16="http://schemas.microsoft.com/office/drawing/2014/main" val="3845808910"/>
                    </a:ext>
                  </a:extLst>
                </a:gridCol>
                <a:gridCol w="1354614">
                  <a:extLst>
                    <a:ext uri="{9D8B030D-6E8A-4147-A177-3AD203B41FA5}">
                      <a16:colId xmlns:a16="http://schemas.microsoft.com/office/drawing/2014/main" val="321399531"/>
                    </a:ext>
                  </a:extLst>
                </a:gridCol>
                <a:gridCol w="1232383">
                  <a:extLst>
                    <a:ext uri="{9D8B030D-6E8A-4147-A177-3AD203B41FA5}">
                      <a16:colId xmlns:a16="http://schemas.microsoft.com/office/drawing/2014/main" val="2896813498"/>
                    </a:ext>
                  </a:extLst>
                </a:gridCol>
                <a:gridCol w="1267667">
                  <a:extLst>
                    <a:ext uri="{9D8B030D-6E8A-4147-A177-3AD203B41FA5}">
                      <a16:colId xmlns:a16="http://schemas.microsoft.com/office/drawing/2014/main" val="3353038943"/>
                    </a:ext>
                  </a:extLst>
                </a:gridCol>
                <a:gridCol w="1008084">
                  <a:extLst>
                    <a:ext uri="{9D8B030D-6E8A-4147-A177-3AD203B41FA5}">
                      <a16:colId xmlns:a16="http://schemas.microsoft.com/office/drawing/2014/main" val="995205155"/>
                    </a:ext>
                  </a:extLst>
                </a:gridCol>
                <a:gridCol w="980363">
                  <a:extLst>
                    <a:ext uri="{9D8B030D-6E8A-4147-A177-3AD203B41FA5}">
                      <a16:colId xmlns:a16="http://schemas.microsoft.com/office/drawing/2014/main" val="2449769906"/>
                    </a:ext>
                  </a:extLst>
                </a:gridCol>
                <a:gridCol w="1321851">
                  <a:extLst>
                    <a:ext uri="{9D8B030D-6E8A-4147-A177-3AD203B41FA5}">
                      <a16:colId xmlns:a16="http://schemas.microsoft.com/office/drawing/2014/main" val="1988699152"/>
                    </a:ext>
                  </a:extLst>
                </a:gridCol>
              </a:tblGrid>
              <a:tr h="827436">
                <a:tc>
                  <a:txBody>
                    <a:bodyPr/>
                    <a:lstStyle/>
                    <a:p>
                      <a:pPr algn="ctr"/>
                      <a:endParaRPr lang="pt-PT" sz="1300" b="0" cap="all" spc="150" dirty="0">
                        <a:solidFill>
                          <a:schemeClr val="lt1"/>
                        </a:solidFill>
                      </a:endParaRPr>
                    </a:p>
                    <a:p>
                      <a:pPr lvl="0" algn="ctr">
                        <a:buNone/>
                      </a:pPr>
                      <a:r>
                        <a:rPr lang="pt-PT" sz="1300" b="0" cap="all" spc="150">
                          <a:solidFill>
                            <a:schemeClr val="lt1"/>
                          </a:solidFill>
                        </a:rPr>
                        <a:t>Model</a:t>
                      </a:r>
                    </a:p>
                  </a:txBody>
                  <a:tcPr marL="108873" marR="108873" marT="108873" marB="10887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300" b="0" cap="all" spc="150" dirty="0">
                        <a:solidFill>
                          <a:schemeClr val="lt1"/>
                        </a:solidFill>
                      </a:endParaRPr>
                    </a:p>
                    <a:p>
                      <a:pPr lvl="0" algn="ctr">
                        <a:buNone/>
                      </a:pPr>
                      <a:r>
                        <a:rPr lang="pt-PT" sz="1300" b="0" cap="all" spc="150">
                          <a:solidFill>
                            <a:schemeClr val="lt1"/>
                          </a:solidFill>
                        </a:rPr>
                        <a:t>Threshold</a:t>
                      </a:r>
                    </a:p>
                  </a:txBody>
                  <a:tcPr marL="108873" marR="108873" marT="108873" marB="10887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300" b="0" cap="all" spc="150" dirty="0">
                        <a:solidFill>
                          <a:schemeClr val="lt1"/>
                        </a:solidFill>
                      </a:endParaRPr>
                    </a:p>
                    <a:p>
                      <a:pPr lvl="0" algn="ctr">
                        <a:buNone/>
                      </a:pPr>
                      <a:r>
                        <a:rPr lang="pt-PT" sz="1300" b="0" cap="all" spc="150">
                          <a:solidFill>
                            <a:schemeClr val="lt1"/>
                          </a:solidFill>
                        </a:rPr>
                        <a:t>Accuracy</a:t>
                      </a:r>
                    </a:p>
                  </a:txBody>
                  <a:tcPr marL="108873" marR="108873" marT="108873" marB="10887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300" b="0" cap="all" spc="150">
                          <a:solidFill>
                            <a:schemeClr val="lt1"/>
                          </a:solidFill>
                        </a:rPr>
                        <a:t>Phishing Precision</a:t>
                      </a:r>
                      <a:endParaRPr lang="pt-PT" sz="1300" b="0" cap="all" spc="150" dirty="0">
                        <a:solidFill>
                          <a:schemeClr val="lt1"/>
                        </a:solidFill>
                      </a:endParaRPr>
                    </a:p>
                  </a:txBody>
                  <a:tcPr marL="108873" marR="108873" marT="108873" marB="10887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300" b="0" cap="all" spc="150">
                          <a:solidFill>
                            <a:schemeClr val="lt1"/>
                          </a:solidFill>
                        </a:rPr>
                        <a:t>Phishing Recall</a:t>
                      </a:r>
                    </a:p>
                  </a:txBody>
                  <a:tcPr marL="108873" marR="108873" marT="108873" marB="10887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300" b="0" cap="all" spc="150">
                          <a:solidFill>
                            <a:schemeClr val="lt1"/>
                          </a:solidFill>
                        </a:rPr>
                        <a:t>Phishing F1-score</a:t>
                      </a:r>
                    </a:p>
                  </a:txBody>
                  <a:tcPr marL="108873" marR="108873" marT="108873" marB="10887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300" b="0" cap="all" spc="150">
                          <a:solidFill>
                            <a:schemeClr val="lt1"/>
                          </a:solidFill>
                        </a:rPr>
                        <a:t>Macro F1-score</a:t>
                      </a:r>
                    </a:p>
                  </a:txBody>
                  <a:tcPr marL="108873" marR="108873" marT="108873" marB="10887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300" b="0" cap="all" spc="150">
                          <a:solidFill>
                            <a:schemeClr val="lt1"/>
                          </a:solidFill>
                        </a:rPr>
                        <a:t>Micro F1-score</a:t>
                      </a:r>
                    </a:p>
                  </a:txBody>
                  <a:tcPr marL="108873" marR="108873" marT="108873" marB="10887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300" b="0" cap="all" spc="150">
                          <a:solidFill>
                            <a:schemeClr val="lt1"/>
                          </a:solidFill>
                        </a:rPr>
                        <a:t>Weighted F1-score</a:t>
                      </a:r>
                    </a:p>
                  </a:txBody>
                  <a:tcPr marL="108873" marR="108873" marT="108873" marB="10887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42692"/>
                  </a:ext>
                </a:extLst>
              </a:tr>
              <a:tr h="56130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8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TF-IDF + Logistic Regression</a:t>
                      </a:r>
                      <a:endParaRPr lang="pt-PT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0.45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0.9814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0.9708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0.9797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0.9752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0.9801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0.9814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0.9814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695669"/>
                  </a:ext>
                </a:extLst>
              </a:tr>
              <a:tr h="56130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8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TF-IDF + Logistic Regression (balanced)</a:t>
                      </a:r>
                      <a:endParaRPr lang="pt-PT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0.54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0.9814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0.9698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0.9807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0.9752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0.9802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0.9814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0.9814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589403"/>
                  </a:ext>
                </a:extLst>
              </a:tr>
              <a:tr h="404041"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BERT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0.08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0.9875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0.9847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0.9817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0.9832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0.9866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0.9875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0.9875</a:t>
                      </a:r>
                    </a:p>
                  </a:txBody>
                  <a:tcPr marL="108873" marR="108873" marT="108873" marB="1088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282652"/>
                  </a:ext>
                </a:extLst>
              </a:tr>
              <a:tr h="4040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Zero-shot NLI</a:t>
                      </a:r>
                    </a:p>
                  </a:txBody>
                  <a:tcPr marL="108873" marR="108873" marT="108873" marB="108873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108873" marR="108873" marT="108873" marB="108873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0.6200</a:t>
                      </a:r>
                    </a:p>
                  </a:txBody>
                  <a:tcPr marL="108873" marR="108873" marT="108873" marB="108873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0.4615</a:t>
                      </a:r>
                    </a:p>
                  </a:txBody>
                  <a:tcPr marL="108873" marR="108873" marT="108873" marB="108873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0.0800</a:t>
                      </a:r>
                    </a:p>
                  </a:txBody>
                  <a:tcPr marL="108873" marR="108873" marT="108873" marB="108873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0.1364</a:t>
                      </a:r>
                    </a:p>
                  </a:txBody>
                  <a:tcPr marL="108873" marR="108873" marT="108873" marB="108873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0.4464</a:t>
                      </a:r>
                    </a:p>
                  </a:txBody>
                  <a:tcPr marL="108873" marR="108873" marT="108873" marB="108873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0.6200</a:t>
                      </a:r>
                    </a:p>
                  </a:txBody>
                  <a:tcPr marL="108873" marR="108873" marT="108873" marB="108873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800" cap="none" spc="0">
                          <a:solidFill>
                            <a:schemeClr val="tx1"/>
                          </a:solidFill>
                        </a:rPr>
                        <a:t>0.5239</a:t>
                      </a:r>
                    </a:p>
                  </a:txBody>
                  <a:tcPr marL="108873" marR="108873" marT="108873" marB="108873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385252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317EDF65-62DE-4997-96AC-E117411995C8}"/>
              </a:ext>
            </a:extLst>
          </p:cNvPr>
          <p:cNvSpPr txBox="1"/>
          <p:nvPr/>
        </p:nvSpPr>
        <p:spPr>
          <a:xfrm>
            <a:off x="476031" y="6328413"/>
            <a:ext cx="114247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>
                <a:ea typeface="+mn-lt"/>
                <a:cs typeface="+mn-lt"/>
              </a:rPr>
              <a:t>Note:</a:t>
            </a:r>
            <a:r>
              <a:rPr lang="pt-PT">
                <a:ea typeface="+mn-lt"/>
                <a:cs typeface="+mn-lt"/>
              </a:rPr>
              <a:t> Zero-shot NLI was evaluated on a stratified subset of 200 test emails due to its higher computational cost.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94800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B31FFA-3413-06B8-70F4-A35F37E3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t-PT" sz="4800"/>
              <a:t>Explainability/Error Analysis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40F5051-2747-F537-FDE1-54ADFD9D9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z="2400">
                <a:ea typeface="+mn-lt"/>
                <a:cs typeface="+mn-lt"/>
              </a:rPr>
              <a:t>Logistic Regression coefficients show which words push predictions toward phishing or safe</a:t>
            </a:r>
            <a:endParaRPr lang="pt-PT" sz="2400"/>
          </a:p>
          <a:p>
            <a:r>
              <a:rPr lang="pt-PT" sz="2400">
                <a:ea typeface="+mn-lt"/>
                <a:cs typeface="+mn-lt"/>
              </a:rPr>
              <a:t>Some phishing emails look professional or technical</a:t>
            </a:r>
            <a:endParaRPr lang="pt-PT" sz="2400"/>
          </a:p>
          <a:p>
            <a:r>
              <a:rPr lang="pt-PT" sz="2400">
                <a:ea typeface="+mn-lt"/>
                <a:cs typeface="+mn-lt"/>
              </a:rPr>
              <a:t>Some safe emails contain suspicious-looking links or formatting</a:t>
            </a:r>
            <a:endParaRPr lang="pt-PT" sz="2400"/>
          </a:p>
          <a:p>
            <a:r>
              <a:rPr lang="pt-PT" sz="2400">
                <a:ea typeface="+mn-lt"/>
                <a:cs typeface="+mn-lt"/>
              </a:rPr>
              <a:t>This shows phishing detection is not only keyword matching</a:t>
            </a:r>
            <a:endParaRPr lang="pt-PT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501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D5FEC9-6E3B-0BB6-44E9-BACD0433C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>
                <a:solidFill>
                  <a:srgbClr val="FFFFFF"/>
                </a:solidFill>
                <a:ea typeface="+mj-lt"/>
                <a:cs typeface="+mj-lt"/>
              </a:rPr>
              <a:t>Logistic Regression </a:t>
            </a:r>
            <a:r>
              <a:rPr lang="en-US" sz="3300" kern="1200">
                <a:solidFill>
                  <a:srgbClr val="FFFFFF"/>
                </a:solidFill>
                <a:ea typeface="+mj-lt"/>
                <a:cs typeface="+mj-lt"/>
              </a:rPr>
              <a:t>Explainability</a:t>
            </a:r>
            <a:endParaRPr lang="pt-PT">
              <a:ea typeface="+mj-lt"/>
              <a:cs typeface="+mj-l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9154891-4AC7-FFFF-EB9A-72BE886B0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449" y="193524"/>
            <a:ext cx="7220721" cy="647588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2E3B783-8CFE-241C-5067-30877CBAA28E}"/>
              </a:ext>
            </a:extLst>
          </p:cNvPr>
          <p:cNvSpPr txBox="1"/>
          <p:nvPr/>
        </p:nvSpPr>
        <p:spPr>
          <a:xfrm>
            <a:off x="184604" y="5128531"/>
            <a:ext cx="452074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PT" sz="1600" b="1">
                <a:solidFill>
                  <a:srgbClr val="FF0000"/>
                </a:solidFill>
              </a:rPr>
              <a:t>Positive coefficients:</a:t>
            </a:r>
            <a:r>
              <a:rPr lang="pt-PT" sz="1600"/>
              <a:t> pushing the prediction toward the "phishing" category</a:t>
            </a:r>
          </a:p>
          <a:p>
            <a:pPr marL="285750" indent="-285750">
              <a:buFont typeface="Arial"/>
              <a:buChar char="•"/>
            </a:pPr>
            <a:r>
              <a:rPr lang="pt-PT" sz="1600">
                <a:solidFill>
                  <a:srgbClr val="0070C0"/>
                </a:solidFill>
              </a:rPr>
              <a:t>Negative coefficients:</a:t>
            </a:r>
            <a:r>
              <a:rPr lang="pt-PT" sz="1600"/>
              <a:t> pushing the prediction toward the "safe" category</a:t>
            </a:r>
          </a:p>
          <a:p>
            <a:pPr marL="285750" indent="-285750">
              <a:buFont typeface="Arial"/>
              <a:buChar char="•"/>
            </a:pPr>
            <a:r>
              <a:rPr lang="pt-PT" sz="1600">
                <a:ea typeface="+mn-lt"/>
                <a:cs typeface="+mn-lt"/>
              </a:rPr>
              <a:t>Makes the classical model </a:t>
            </a:r>
            <a:r>
              <a:rPr lang="pt-PT" sz="1600" u="sng">
                <a:ea typeface="+mn-lt"/>
                <a:cs typeface="+mn-lt"/>
              </a:rPr>
              <a:t>easier to interpret</a:t>
            </a:r>
            <a:r>
              <a:rPr lang="pt-PT" sz="1600" dirty="0">
                <a:ea typeface="+mn-lt"/>
                <a:cs typeface="+mn-lt"/>
              </a:rPr>
              <a:t> </a:t>
            </a:r>
            <a:r>
              <a:rPr lang="pt-PT" sz="1600">
                <a:ea typeface="+mn-lt"/>
                <a:cs typeface="+mn-lt"/>
              </a:rPr>
              <a:t>than BERT</a:t>
            </a:r>
            <a:endParaRPr lang="pt-PT" sz="1600" dirty="0"/>
          </a:p>
        </p:txBody>
      </p:sp>
    </p:spTree>
    <p:extLst>
      <p:ext uri="{BB962C8B-B14F-4D97-AF65-F5344CB8AC3E}">
        <p14:creationId xmlns:p14="http://schemas.microsoft.com/office/powerpoint/2010/main" val="4261071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56C58-1164-F7DB-41A1-7E146B71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/>
              <a:t>Examples of Misclassified Emails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8D97EB9-E465-3178-108E-70393A00C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4" y="4244013"/>
            <a:ext cx="11865429" cy="143248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D8A63A8-9F86-C394-5225-3DB94A592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15" y="2385008"/>
            <a:ext cx="11865429" cy="105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25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C27F21-3E66-F7E0-E0D9-087308983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Cross-Dataset Generalization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802D6DF0-9BE7-2FE4-6BCD-7DFE1351B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084544"/>
              </p:ext>
            </p:extLst>
          </p:nvPr>
        </p:nvGraphicFramePr>
        <p:xfrm>
          <a:off x="994228" y="2380343"/>
          <a:ext cx="10204336" cy="3441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065">
                  <a:extLst>
                    <a:ext uri="{9D8B030D-6E8A-4147-A177-3AD203B41FA5}">
                      <a16:colId xmlns:a16="http://schemas.microsoft.com/office/drawing/2014/main" val="4201115230"/>
                    </a:ext>
                  </a:extLst>
                </a:gridCol>
                <a:gridCol w="1274267">
                  <a:extLst>
                    <a:ext uri="{9D8B030D-6E8A-4147-A177-3AD203B41FA5}">
                      <a16:colId xmlns:a16="http://schemas.microsoft.com/office/drawing/2014/main" val="2589770441"/>
                    </a:ext>
                  </a:extLst>
                </a:gridCol>
                <a:gridCol w="1246103">
                  <a:extLst>
                    <a:ext uri="{9D8B030D-6E8A-4147-A177-3AD203B41FA5}">
                      <a16:colId xmlns:a16="http://schemas.microsoft.com/office/drawing/2014/main" val="1637966132"/>
                    </a:ext>
                  </a:extLst>
                </a:gridCol>
                <a:gridCol w="1165247">
                  <a:extLst>
                    <a:ext uri="{9D8B030D-6E8A-4147-A177-3AD203B41FA5}">
                      <a16:colId xmlns:a16="http://schemas.microsoft.com/office/drawing/2014/main" val="3726233893"/>
                    </a:ext>
                  </a:extLst>
                </a:gridCol>
                <a:gridCol w="1178309">
                  <a:extLst>
                    <a:ext uri="{9D8B030D-6E8A-4147-A177-3AD203B41FA5}">
                      <a16:colId xmlns:a16="http://schemas.microsoft.com/office/drawing/2014/main" val="1135575394"/>
                    </a:ext>
                  </a:extLst>
                </a:gridCol>
                <a:gridCol w="994318">
                  <a:extLst>
                    <a:ext uri="{9D8B030D-6E8A-4147-A177-3AD203B41FA5}">
                      <a16:colId xmlns:a16="http://schemas.microsoft.com/office/drawing/2014/main" val="2027624966"/>
                    </a:ext>
                  </a:extLst>
                </a:gridCol>
                <a:gridCol w="1018872">
                  <a:extLst>
                    <a:ext uri="{9D8B030D-6E8A-4147-A177-3AD203B41FA5}">
                      <a16:colId xmlns:a16="http://schemas.microsoft.com/office/drawing/2014/main" val="2564452834"/>
                    </a:ext>
                  </a:extLst>
                </a:gridCol>
                <a:gridCol w="1397155">
                  <a:extLst>
                    <a:ext uri="{9D8B030D-6E8A-4147-A177-3AD203B41FA5}">
                      <a16:colId xmlns:a16="http://schemas.microsoft.com/office/drawing/2014/main" val="750192589"/>
                    </a:ext>
                  </a:extLst>
                </a:gridCol>
              </a:tblGrid>
              <a:tr h="867398">
                <a:tc>
                  <a:txBody>
                    <a:bodyPr/>
                    <a:lstStyle/>
                    <a:p>
                      <a:pPr algn="ctr"/>
                      <a:endParaRPr lang="pt-PT" sz="1800" dirty="0"/>
                    </a:p>
                    <a:p>
                      <a:pPr lvl="0" algn="ctr">
                        <a:buNone/>
                      </a:pPr>
                      <a:r>
                        <a:rPr lang="pt-PT" sz="1800"/>
                        <a:t>Experiment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endParaRPr lang="pt-PT" sz="1800" dirty="0"/>
                    </a:p>
                    <a:p>
                      <a:pPr lvl="0" algn="ctr">
                        <a:buNone/>
                      </a:pPr>
                      <a:r>
                        <a:rPr lang="pt-PT" sz="1800"/>
                        <a:t>Accuracy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Phishing Precision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Phishing Recall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Phishing F1-score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Macro F1-score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Micro F1-score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Weighted F1-score</a:t>
                      </a:r>
                    </a:p>
                  </a:txBody>
                  <a:tcPr marL="83404" marR="83404" marT="41702" marB="41702"/>
                </a:tc>
                <a:extLst>
                  <a:ext uri="{0D108BD9-81ED-4DB2-BD59-A6C34878D82A}">
                    <a16:rowId xmlns:a16="http://schemas.microsoft.com/office/drawing/2014/main" val="3903091959"/>
                  </a:ext>
                </a:extLst>
              </a:tr>
              <a:tr h="617187"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Primary train + test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0.9814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0.9708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0.9797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0.9752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0.9801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0.9814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0.9814</a:t>
                      </a:r>
                    </a:p>
                  </a:txBody>
                  <a:tcPr marL="83404" marR="83404" marT="41702" marB="41702"/>
                </a:tc>
                <a:extLst>
                  <a:ext uri="{0D108BD9-81ED-4DB2-BD59-A6C34878D82A}">
                    <a16:rowId xmlns:a16="http://schemas.microsoft.com/office/drawing/2014/main" val="210750146"/>
                  </a:ext>
                </a:extLst>
              </a:tr>
              <a:tr h="617187"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Difraud train + test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0.9719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0.9879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0.9408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0.9638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0.9704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0.9719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0.9717</a:t>
                      </a:r>
                    </a:p>
                  </a:txBody>
                  <a:tcPr marL="83404" marR="83404" marT="41702" marB="41702"/>
                </a:tc>
                <a:extLst>
                  <a:ext uri="{0D108BD9-81ED-4DB2-BD59-A6C34878D82A}">
                    <a16:rowId xmlns:a16="http://schemas.microsoft.com/office/drawing/2014/main" val="943869266"/>
                  </a:ext>
                </a:extLst>
              </a:tr>
              <a:tr h="639177"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Primary trained -</a:t>
                      </a:r>
                      <a:r>
                        <a:rPr lang="pt-PT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&gt; Difraud test</a:t>
                      </a:r>
                      <a:endParaRPr lang="pt-PT" sz="1800">
                        <a:solidFill>
                          <a:schemeClr val="tx1"/>
                        </a:solidFill>
                      </a:endParaRP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0.9051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0.8360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0.9474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0.8882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0.9029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0.9051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0.9059</a:t>
                      </a:r>
                    </a:p>
                  </a:txBody>
                  <a:tcPr marL="83404" marR="83404" marT="41702" marB="41702"/>
                </a:tc>
                <a:extLst>
                  <a:ext uri="{0D108BD9-81ED-4DB2-BD59-A6C34878D82A}">
                    <a16:rowId xmlns:a16="http://schemas.microsoft.com/office/drawing/2014/main" val="1115321174"/>
                  </a:ext>
                </a:extLst>
              </a:tr>
              <a:tr h="617187"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Difraud trained -</a:t>
                      </a:r>
                      <a:r>
                        <a:rPr lang="pt-PT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&gt; Primary test</a:t>
                      </a:r>
                      <a:endParaRPr lang="pt-PT" sz="1800" b="0" i="0" u="none" strike="noStrike" noProof="0">
                        <a:solidFill>
                          <a:srgbClr val="E3E3E3"/>
                        </a:solidFill>
                        <a:latin typeface="Aptos"/>
                      </a:endParaRP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0.7948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0.9703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0.4654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0.6291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0.7436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0.7948</a:t>
                      </a:r>
                    </a:p>
                  </a:txBody>
                  <a:tcPr marL="83404" marR="83404" marT="41702" marB="41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800"/>
                        <a:t>0.7725</a:t>
                      </a:r>
                    </a:p>
                  </a:txBody>
                  <a:tcPr marL="83404" marR="83404" marT="41702" marB="41702"/>
                </a:tc>
                <a:extLst>
                  <a:ext uri="{0D108BD9-81ED-4DB2-BD59-A6C34878D82A}">
                    <a16:rowId xmlns:a16="http://schemas.microsoft.com/office/drawing/2014/main" val="2542114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207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37B165-A5F2-5E85-37F1-645D28C3E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Limitations and Future Work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CE23208-3F55-0C54-0EFF-FFEE47BE7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626"/>
            <a:ext cx="5158427" cy="37304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BERT used max length 128 tokens</a:t>
            </a:r>
          </a:p>
          <a:p>
            <a:r>
              <a:rPr lang="en-US" sz="2400"/>
              <a:t>Only one transformer model was fine-tuned</a:t>
            </a:r>
          </a:p>
          <a:p>
            <a:r>
              <a:rPr lang="en-US" sz="2400"/>
              <a:t>Public phishing datasets may contain noisy labels</a:t>
            </a:r>
          </a:p>
          <a:p>
            <a:r>
              <a:rPr lang="en-US" sz="2400">
                <a:ea typeface="+mn-lt"/>
                <a:cs typeface="+mn-lt"/>
              </a:rPr>
              <a:t>Zero-shot NLI was evaluated on a 200-email stratified subset, but performed much worse than the trained models</a:t>
            </a:r>
            <a:endParaRPr lang="en-US" sz="2400" dirty="0"/>
          </a:p>
        </p:txBody>
      </p:sp>
      <p:sp>
        <p:nvSpPr>
          <p:cNvPr id="5" name="Marcador de Posição de Conteúdo 2">
            <a:extLst>
              <a:ext uri="{FF2B5EF4-FFF2-40B4-BE49-F238E27FC236}">
                <a16:creationId xmlns:a16="http://schemas.microsoft.com/office/drawing/2014/main" id="{2EF88CC6-8191-D39C-3BB9-33A18B036C2A}"/>
              </a:ext>
            </a:extLst>
          </p:cNvPr>
          <p:cNvSpPr txBox="1">
            <a:spLocks/>
          </p:cNvSpPr>
          <p:nvPr/>
        </p:nvSpPr>
        <p:spPr>
          <a:xfrm>
            <a:off x="6189154" y="2398626"/>
            <a:ext cx="5164645" cy="37304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Test </a:t>
            </a:r>
            <a:r>
              <a:rPr lang="en-US" sz="2400" dirty="0" err="1"/>
              <a:t>RoBERTa</a:t>
            </a:r>
            <a:r>
              <a:rPr lang="en-US" sz="2400" dirty="0"/>
              <a:t>, </a:t>
            </a:r>
            <a:r>
              <a:rPr lang="en-US" sz="2400" dirty="0" err="1"/>
              <a:t>DistilBERT</a:t>
            </a:r>
            <a:r>
              <a:rPr lang="en-US" sz="2400" dirty="0"/>
              <a:t>, or long-context models</a:t>
            </a:r>
          </a:p>
          <a:p>
            <a:r>
              <a:rPr lang="en-US" sz="2400"/>
              <a:t>Train on mixed datasets</a:t>
            </a:r>
            <a:endParaRPr lang="en-US" sz="2400" dirty="0"/>
          </a:p>
          <a:p>
            <a:r>
              <a:rPr lang="en-US" sz="2400"/>
              <a:t>Add BERT explainability methods</a:t>
            </a:r>
            <a:endParaRPr lang="en-US" sz="2400" dirty="0"/>
          </a:p>
          <a:p>
            <a:r>
              <a:rPr lang="en-US" sz="2400"/>
              <a:t>Evaluate deployment metrics such as latency and false negatives</a:t>
            </a:r>
          </a:p>
        </p:txBody>
      </p:sp>
    </p:spTree>
    <p:extLst>
      <p:ext uri="{BB962C8B-B14F-4D97-AF65-F5344CB8AC3E}">
        <p14:creationId xmlns:p14="http://schemas.microsoft.com/office/powerpoint/2010/main" val="3195428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F334BD-0924-6FE7-75DB-4DECA16D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992" y="2426"/>
            <a:ext cx="5801917" cy="2228760"/>
          </a:xfrm>
        </p:spPr>
        <p:txBody>
          <a:bodyPr anchor="b">
            <a:normAutofit/>
          </a:bodyPr>
          <a:lstStyle/>
          <a:p>
            <a:r>
              <a:rPr lang="pt-PT" sz="4000"/>
              <a:t>Conclusion</a:t>
            </a:r>
          </a:p>
        </p:txBody>
      </p:sp>
      <p:pic>
        <p:nvPicPr>
          <p:cNvPr id="7" name="Graphic 6" descr="Troféu">
            <a:extLst>
              <a:ext uri="{FF2B5EF4-FFF2-40B4-BE49-F238E27FC236}">
                <a16:creationId xmlns:a16="http://schemas.microsoft.com/office/drawing/2014/main" id="{4D42565E-FB53-7109-52CB-3D3E26E8DE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3291" y="1351447"/>
            <a:ext cx="1198532" cy="1198532"/>
          </a:xfrm>
          <a:prstGeom prst="rect">
            <a:avLst/>
          </a:prstGeom>
        </p:spPr>
      </p:pic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D3F477F4-0B5D-53AC-B8B1-439018430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993" y="2548044"/>
            <a:ext cx="5801917" cy="20570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400">
                <a:ea typeface="+mn-lt"/>
                <a:cs typeface="+mn-lt"/>
              </a:rPr>
              <a:t>BERT achieved the best final performance</a:t>
            </a:r>
            <a:endParaRPr lang="pt-PT" sz="2400"/>
          </a:p>
          <a:p>
            <a:r>
              <a:rPr lang="pt-PT" sz="2400">
                <a:ea typeface="+mn-lt"/>
                <a:cs typeface="+mn-lt"/>
              </a:rPr>
              <a:t>TF-IDF + Logistic Regression remained highly competitive</a:t>
            </a:r>
            <a:endParaRPr lang="pt-PT" sz="2400"/>
          </a:p>
          <a:p>
            <a:r>
              <a:rPr lang="pt-PT" sz="2400">
                <a:ea typeface="+mn-lt"/>
                <a:cs typeface="+mn-lt"/>
              </a:rPr>
              <a:t>Zero-shot NLI was not competitive with the trained models</a:t>
            </a:r>
            <a:endParaRPr lang="pt-PT" sz="2400" dirty="0">
              <a:ea typeface="+mn-lt"/>
              <a:cs typeface="+mn-lt"/>
            </a:endParaRPr>
          </a:p>
          <a:p>
            <a:r>
              <a:rPr lang="pt-PT" sz="2400">
                <a:ea typeface="+mn-lt"/>
                <a:cs typeface="+mn-lt"/>
              </a:rPr>
              <a:t>Classical models are useful when speed and interpretability matter</a:t>
            </a:r>
            <a:endParaRPr lang="pt-PT" sz="2400"/>
          </a:p>
          <a:p>
            <a:r>
              <a:rPr lang="pt-PT" sz="2400">
                <a:ea typeface="+mn-lt"/>
                <a:cs typeface="+mn-lt"/>
              </a:rPr>
              <a:t>Cross-dataset testing showed that generalization remains a challenge</a:t>
            </a:r>
            <a:endParaRPr lang="pt-PT" sz="2000"/>
          </a:p>
        </p:txBody>
      </p:sp>
      <p:pic>
        <p:nvPicPr>
          <p:cNvPr id="20" name="Graphic 8" descr="Troféu">
            <a:extLst>
              <a:ext uri="{FF2B5EF4-FFF2-40B4-BE49-F238E27FC236}">
                <a16:creationId xmlns:a16="http://schemas.microsoft.com/office/drawing/2014/main" id="{9D4E438D-AC9B-4EF3-BFF5-CBF2102D0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645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CFE27A-8B71-017C-B80D-B0F3269B6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925989" cy="3167510"/>
          </a:xfrm>
        </p:spPr>
        <p:txBody>
          <a:bodyPr anchor="b">
            <a:normAutofit/>
          </a:bodyPr>
          <a:lstStyle/>
          <a:p>
            <a:pPr algn="r"/>
            <a:r>
              <a:rPr lang="pt-PT" sz="7400"/>
              <a:t>Thank you for your attention!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FF15D1B6-E04A-AD67-F87A-13981F0D99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2539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Ecrã Panorâmico</PresentationFormat>
  <Paragraphs>0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19" baseType="lpstr">
      <vt:lpstr>Tema do Office</vt:lpstr>
      <vt:lpstr>A Comparative Study of Classical and Transformer-Based Models for Phishing Email Detection</vt:lpstr>
      <vt:lpstr>Why Phishing Email Detection?</vt:lpstr>
      <vt:lpstr>Research Objective</vt:lpstr>
      <vt:lpstr>Dataset</vt:lpstr>
      <vt:lpstr>Apresentação do PowerPoint</vt:lpstr>
      <vt:lpstr>Preprocessing</vt:lpstr>
      <vt:lpstr>Example Emails and Labels</vt:lpstr>
      <vt:lpstr>Models (Comparison)</vt:lpstr>
      <vt:lpstr>Threshold Tuning</vt:lpstr>
      <vt:lpstr>Evaluation Metrics</vt:lpstr>
      <vt:lpstr>Main Results</vt:lpstr>
      <vt:lpstr>Explainability/Error Analysis</vt:lpstr>
      <vt:lpstr>Logistic Regression Explainability</vt:lpstr>
      <vt:lpstr>Examples of Misclassified Emails</vt:lpstr>
      <vt:lpstr>Cross-Dataset Generalization</vt:lpstr>
      <vt:lpstr>Limitations and Future Work</vt:lpstr>
      <vt:lpstr>Conclusion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576</cp:revision>
  <dcterms:created xsi:type="dcterms:W3CDTF">2026-07-02T13:40:58Z</dcterms:created>
  <dcterms:modified xsi:type="dcterms:W3CDTF">2026-07-02T16:59:24Z</dcterms:modified>
</cp:coreProperties>
</file>